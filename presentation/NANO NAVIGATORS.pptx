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5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Times New Roman MT Bold"/>
    </p:embeddedFont>
    <p:embeddedFont>
      <p:font typeface="Horizon"/>
      <p:bold r:id="rId14"/>
    </p:embeddedFont>
    <p:embeddedFont>
      <p:font typeface="TS Qamus Bold"/>
    </p:embeddedFont>
    <p:embeddedFont>
      <p:font typeface="Canva Sans Bold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Font_1_Horizon_Bold.fntdata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D6C74D6-FDFF-4EC3-A32E-0935D2DEAE68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E7B5B85-06E8-4E46-BA89-9874EFBEF9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DB202C-1E60-403B-839D-3158919622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AD7136-DB7F-4EE0-9A0F-453CC07F3D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4BA0FD-391F-4684-BE55-8EC5959EA2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BB33147-8F3A-4436-BCB6-5D7E42993A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0EAE9B-A0E1-4315-B0E4-5C71664609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F7A4CC-8100-46A8-9410-05405BBBD3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424B67-5339-42B4-AFD0-B0569CBDFF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03CC9D-9424-4EBD-894E-C66BD288D6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45E2F8-196A-4DD8-A653-1334CDF7EF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2DF135-4601-45AA-8792-A6DAE2BD4A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83C942-E870-4D41-B05D-BC5A93E7ED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9.jpeg"/><Relationship Id="rId9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0.jpeg"/><Relationship Id="rId9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1.jpeg"/><Relationship Id="rId9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 2"/>
          <p:cNvSpPr/>
          <p:nvPr/>
        </p:nvSpPr>
        <p:spPr>
          <a:xfrm>
            <a:off x="-25920" y="9121320"/>
            <a:ext cx="1164960" cy="1164960"/>
          </a:xfrm>
          <a:custGeom>
            <a:avLst/>
            <a:gdLst>
              <a:gd name="textAreaLeft" fmla="*/ 0 w 1164960"/>
              <a:gd name="textAreaRight" fmla="*/ 1165680 w 1164960"/>
              <a:gd name="textAreaTop" fmla="*/ 0 h 1164960"/>
              <a:gd name="textAreaBottom" fmla="*/ 1165680 h 1164960"/>
            </a:gdLst>
            <a:ahLst/>
            <a:cxnLst/>
            <a:rect l="textAreaLeft" t="textAreaTop" r="textAreaRight" b="textAreaBottom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Freeform 3"/>
          <p:cNvSpPr/>
          <p:nvPr/>
        </p:nvSpPr>
        <p:spPr>
          <a:xfrm>
            <a:off x="16835760" y="146880"/>
            <a:ext cx="1203840" cy="1415520"/>
          </a:xfrm>
          <a:custGeom>
            <a:avLst/>
            <a:gdLst>
              <a:gd name="textAreaLeft" fmla="*/ 0 w 1203840"/>
              <a:gd name="textAreaRight" fmla="*/ 1204560 w 1203840"/>
              <a:gd name="textAreaTop" fmla="*/ 0 h 1415520"/>
              <a:gd name="textAreaBottom" fmla="*/ 1416240 h 1415520"/>
            </a:gdLst>
            <a:ahLst/>
            <a:cxnLst/>
            <a:rect l="textAreaLeft" t="textAreaTop" r="textAreaRight" b="textAreaBottom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Freeform 4"/>
          <p:cNvSpPr/>
          <p:nvPr/>
        </p:nvSpPr>
        <p:spPr>
          <a:xfrm>
            <a:off x="4600800" y="-456120"/>
            <a:ext cx="8641080" cy="2621160"/>
          </a:xfrm>
          <a:custGeom>
            <a:avLst/>
            <a:gdLst>
              <a:gd name="textAreaLeft" fmla="*/ 0 w 8641080"/>
              <a:gd name="textAreaRight" fmla="*/ 8641800 w 8641080"/>
              <a:gd name="textAreaTop" fmla="*/ 0 h 2621160"/>
              <a:gd name="textAreaBottom" fmla="*/ 2621880 h 2621160"/>
            </a:gdLst>
            <a:ahLst/>
            <a:cxnLst/>
            <a:rect l="textAreaLeft" t="textAreaTop" r="textAreaRight" b="textAreaBottom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Freeform 5"/>
          <p:cNvSpPr/>
          <p:nvPr/>
        </p:nvSpPr>
        <p:spPr>
          <a:xfrm>
            <a:off x="10362240" y="2361960"/>
            <a:ext cx="6472800" cy="6758640"/>
          </a:xfrm>
          <a:custGeom>
            <a:avLst/>
            <a:gdLst>
              <a:gd name="textAreaLeft" fmla="*/ 0 w 6472800"/>
              <a:gd name="textAreaRight" fmla="*/ 6473520 w 6472800"/>
              <a:gd name="textAreaTop" fmla="*/ 0 h 6758640"/>
              <a:gd name="textAreaBottom" fmla="*/ 6759360 h 6758640"/>
            </a:gdLst>
            <a:ahLst/>
            <a:cxnLst/>
            <a:rect l="textAreaLeft" t="textAreaTop" r="textAreaRight" b="textAreaBottom"/>
            <a:pathLst>
              <a:path w="6473404" h="6759319">
                <a:moveTo>
                  <a:pt x="0" y="0"/>
                </a:moveTo>
                <a:lnTo>
                  <a:pt x="6473403" y="0"/>
                </a:lnTo>
                <a:lnTo>
                  <a:pt x="6473403" y="6759319"/>
                </a:lnTo>
                <a:lnTo>
                  <a:pt x="0" y="67593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  <a:alphaModFix amt="1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Freeform 6"/>
          <p:cNvSpPr/>
          <p:nvPr/>
        </p:nvSpPr>
        <p:spPr>
          <a:xfrm flipH="1" flipV="1">
            <a:off x="10800" y="-11268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Freeform 7"/>
          <p:cNvSpPr/>
          <p:nvPr/>
        </p:nvSpPr>
        <p:spPr>
          <a:xfrm>
            <a:off x="16376400" y="7956000"/>
            <a:ext cx="1980360" cy="2330280"/>
          </a:xfrm>
          <a:custGeom>
            <a:avLst/>
            <a:gdLst>
              <a:gd name="textAreaLeft" fmla="*/ 0 w 1980360"/>
              <a:gd name="textAreaRight" fmla="*/ 1981080 w 1980360"/>
              <a:gd name="textAreaTop" fmla="*/ 0 h 2330280"/>
              <a:gd name="textAreaBottom" fmla="*/ 233100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0" y="0"/>
                </a:moveTo>
                <a:lnTo>
                  <a:pt x="1981152" y="0"/>
                </a:lnTo>
                <a:lnTo>
                  <a:pt x="1981152" y="2331116"/>
                </a:lnTo>
                <a:lnTo>
                  <a:pt x="0" y="23311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Freeform 8"/>
          <p:cNvSpPr/>
          <p:nvPr/>
        </p:nvSpPr>
        <p:spPr>
          <a:xfrm>
            <a:off x="5243760" y="1910160"/>
            <a:ext cx="6992640" cy="1252800"/>
          </a:xfrm>
          <a:custGeom>
            <a:avLst/>
            <a:gdLst>
              <a:gd name="textAreaLeft" fmla="*/ 0 w 6992640"/>
              <a:gd name="textAreaRight" fmla="*/ 6993360 w 6992640"/>
              <a:gd name="textAreaTop" fmla="*/ 0 h 1252800"/>
              <a:gd name="textAreaBottom" fmla="*/ 1253520 h 1252800"/>
            </a:gdLst>
            <a:ahLst/>
            <a:cxnLst/>
            <a:rect l="textAreaLeft" t="textAreaTop" r="textAreaRight" b="textAreaBottom"/>
            <a:pathLst>
              <a:path w="6993421" h="1253616">
                <a:moveTo>
                  <a:pt x="0" y="0"/>
                </a:moveTo>
                <a:lnTo>
                  <a:pt x="6993421" y="0"/>
                </a:lnTo>
                <a:lnTo>
                  <a:pt x="6993421" y="1253616"/>
                </a:lnTo>
                <a:lnTo>
                  <a:pt x="0" y="12536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556920" y="4235400"/>
            <a:ext cx="8553240" cy="65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93"/>
              </a:lnSpc>
            </a:pPr>
            <a:r>
              <a:rPr lang="en-US" sz="3709" b="1" u="none" strike="noStrike">
                <a:solidFill>
                  <a:srgbClr val="000000"/>
                </a:solidFill>
                <a:effectLst/>
                <a:uFillTx/>
                <a:latin typeface="Times New Roman MT Bold"/>
                <a:ea typeface="Times New Roman MT Bold"/>
              </a:rPr>
              <a:t>TEAM NAME  : NANO NAVIGATORS</a:t>
            </a:r>
            <a:endParaRPr lang="en-IN" sz="37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12240" y="5416920"/>
            <a:ext cx="855324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372"/>
              </a:lnSpc>
            </a:pPr>
            <a:r>
              <a:rPr lang="en-US" sz="3840" b="1" u="none" strike="noStrike">
                <a:solidFill>
                  <a:srgbClr val="000000"/>
                </a:solidFill>
                <a:effectLst/>
                <a:uFillTx/>
                <a:latin typeface="Times New Roman MT Bold"/>
                <a:ea typeface="Times New Roman MT Bold"/>
              </a:rPr>
              <a:t>    PROBELM STATEMENT NO: 01 </a:t>
            </a:r>
            <a:endParaRPr lang="en-IN" sz="38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-457200" y="7829280"/>
            <a:ext cx="698040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468"/>
              </a:lnSpc>
            </a:pPr>
            <a:r>
              <a:rPr lang="en-US" sz="3909" b="1" u="none" strike="noStrike">
                <a:solidFill>
                  <a:srgbClr val="000000"/>
                </a:solidFill>
                <a:effectLst/>
                <a:uFillTx/>
                <a:latin typeface="Times New Roman MT Bold"/>
                <a:ea typeface="Times New Roman MT Bold"/>
              </a:rPr>
              <a:t>    PS Category- Software</a:t>
            </a:r>
            <a:endParaRPr lang="en-IN" sz="39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0" y="6469560"/>
            <a:ext cx="1571472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770" b="1" u="none" strike="noStrike">
                <a:solidFill>
                  <a:srgbClr val="000000"/>
                </a:solidFill>
                <a:effectLst/>
                <a:uFillTx/>
                <a:latin typeface="Times New Roman MT Bold"/>
                <a:ea typeface="Times New Roman MT Bold"/>
              </a:rPr>
              <a:t>       PROBLEM STATEMENT TITLE: </a:t>
            </a: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 MT Bold"/>
              </a:rPr>
              <a:t>Design and Verification of a Low-           Power Clock Gating Controller for Mobile SoC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reeform 2"/>
          <p:cNvSpPr/>
          <p:nvPr/>
        </p:nvSpPr>
        <p:spPr>
          <a:xfrm>
            <a:off x="-25920" y="9121320"/>
            <a:ext cx="1164960" cy="1164960"/>
          </a:xfrm>
          <a:custGeom>
            <a:avLst/>
            <a:gdLst>
              <a:gd name="textAreaLeft" fmla="*/ 0 w 1164960"/>
              <a:gd name="textAreaRight" fmla="*/ 1165680 w 1164960"/>
              <a:gd name="textAreaTop" fmla="*/ 0 h 1164960"/>
              <a:gd name="textAreaBottom" fmla="*/ 1165680 h 1164960"/>
            </a:gdLst>
            <a:ahLst/>
            <a:cxnLst/>
            <a:rect l="textAreaLeft" t="textAreaTop" r="textAreaRight" b="textAreaBottom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Freeform 3"/>
          <p:cNvSpPr/>
          <p:nvPr/>
        </p:nvSpPr>
        <p:spPr>
          <a:xfrm>
            <a:off x="16835760" y="146880"/>
            <a:ext cx="1203840" cy="1415520"/>
          </a:xfrm>
          <a:custGeom>
            <a:avLst/>
            <a:gdLst>
              <a:gd name="textAreaLeft" fmla="*/ 0 w 1203840"/>
              <a:gd name="textAreaRight" fmla="*/ 1204560 w 1203840"/>
              <a:gd name="textAreaTop" fmla="*/ 0 h 1415520"/>
              <a:gd name="textAreaBottom" fmla="*/ 1416240 h 1415520"/>
            </a:gdLst>
            <a:ahLst/>
            <a:cxnLst/>
            <a:rect l="textAreaLeft" t="textAreaTop" r="textAreaRight" b="textAreaBottom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Freeform 4"/>
          <p:cNvSpPr/>
          <p:nvPr/>
        </p:nvSpPr>
        <p:spPr>
          <a:xfrm>
            <a:off x="4600800" y="-456120"/>
            <a:ext cx="8641080" cy="2621160"/>
          </a:xfrm>
          <a:custGeom>
            <a:avLst/>
            <a:gdLst>
              <a:gd name="textAreaLeft" fmla="*/ 0 w 8641080"/>
              <a:gd name="textAreaRight" fmla="*/ 8641800 w 8641080"/>
              <a:gd name="textAreaTop" fmla="*/ 0 h 2621160"/>
              <a:gd name="textAreaBottom" fmla="*/ 2621880 h 2621160"/>
            </a:gdLst>
            <a:ahLst/>
            <a:cxnLst/>
            <a:rect l="textAreaLeft" t="textAreaTop" r="textAreaRight" b="textAreaBottom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Freeform 5"/>
          <p:cNvSpPr/>
          <p:nvPr/>
        </p:nvSpPr>
        <p:spPr>
          <a:xfrm flipH="1" flipV="1">
            <a:off x="10800" y="-11268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1646640" y="2514240"/>
            <a:ext cx="15658560" cy="84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4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nva Sans Bold"/>
              </a:rPr>
              <a:t>Real-world problem:</a:t>
            </a:r>
            <a:endParaRPr lang="en-IN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nva Sans Bold"/>
              </a:rPr>
              <a:t>Idle SoC blocks still receive the clock, wasting power. 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nva Sans Bold"/>
              </a:rPr>
              <a:t>Mobile devices need to turn off clocks to unused blocks. 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nva Sans Bold"/>
              </a:rPr>
              <a:t>Clock gating must happen without glitches or unwanted clock pulses.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4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Canva Sans Bold"/>
              </a:rPr>
              <a:t> Why it Matters :</a:t>
            </a:r>
            <a:endParaRPr lang="en-IN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nva Sans Bold"/>
              </a:rPr>
              <a:t>Reduces overall power consumption. 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nva Sans Bold"/>
              </a:rPr>
              <a:t>Improves battery life in mobile devices. 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nva Sans Bold"/>
              </a:rPr>
              <a:t>Reduces heat and improves SoC reliability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nva Sans Bold"/>
              </a:rPr>
              <a:t>Current challenges :</a:t>
            </a:r>
            <a:endParaRPr lang="en-IN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nva Sans Bold"/>
              </a:rPr>
              <a:t>Handling asynchronous wake-up without clock glitches. 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nva Sans Bold"/>
              </a:rPr>
              <a:t>Maintaining clock duty cycle and low gating latency. 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nva Sans Bold"/>
              </a:rPr>
              <a:t>Achieving zero setup and hold violations after physical implementation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nva Sans Bold"/>
              </a:rPr>
              <a:t>. 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380880" y="1623960"/>
            <a:ext cx="10362600" cy="14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593"/>
              </a:lnSpc>
            </a:pPr>
            <a:r>
              <a:rPr lang="en-US" sz="3990" b="0" u="none" strike="noStrike">
                <a:solidFill>
                  <a:srgbClr val="000000"/>
                </a:solidFill>
                <a:effectLst/>
                <a:uFillTx/>
                <a:latin typeface="Horizon"/>
                <a:ea typeface="Horizon"/>
              </a:rPr>
              <a:t>Problem Statement</a:t>
            </a:r>
            <a:endParaRPr lang="en-IN" sz="39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5593"/>
              </a:lnSpc>
            </a:pPr>
            <a:r>
              <a:rPr lang="en-US" sz="3990" b="0" u="none" strike="noStrike">
                <a:solidFill>
                  <a:srgbClr val="000000"/>
                </a:solidFill>
                <a:effectLst/>
                <a:uFillTx/>
                <a:latin typeface="Horizon"/>
                <a:ea typeface="Horizon"/>
              </a:rPr>
              <a:t>         </a:t>
            </a:r>
            <a:endParaRPr lang="en-IN" sz="39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reeform 8"/>
          <p:cNvSpPr/>
          <p:nvPr/>
        </p:nvSpPr>
        <p:spPr>
          <a:xfrm>
            <a:off x="8780400" y="968760"/>
            <a:ext cx="8923320" cy="9317520"/>
          </a:xfrm>
          <a:custGeom>
            <a:avLst/>
            <a:gdLst>
              <a:gd name="textAreaLeft" fmla="*/ 0 w 8923320"/>
              <a:gd name="textAreaRight" fmla="*/ 8924040 w 8923320"/>
              <a:gd name="textAreaTop" fmla="*/ 0 h 9317520"/>
              <a:gd name="textAreaBottom" fmla="*/ 9318240 h 9317520"/>
            </a:gdLst>
            <a:ahLst/>
            <a:cxnLst/>
            <a:rect l="textAreaLeft" t="textAreaTop" r="textAreaRight" b="textAreaBottom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  <a:alphaModFix amt="7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Freeform 9"/>
          <p:cNvSpPr/>
          <p:nvPr/>
        </p:nvSpPr>
        <p:spPr>
          <a:xfrm flipH="1" flipV="1" rot="10800000">
            <a:off x="16316280" y="795600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9676440" y="6537240"/>
            <a:ext cx="1839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Freeform 2"/>
          <p:cNvSpPr/>
          <p:nvPr/>
        </p:nvSpPr>
        <p:spPr>
          <a:xfrm>
            <a:off x="4680000" y="-641520"/>
            <a:ext cx="8641080" cy="2621160"/>
          </a:xfrm>
          <a:custGeom>
            <a:avLst/>
            <a:gdLst>
              <a:gd name="textAreaLeft" fmla="*/ 0 w 8641080"/>
              <a:gd name="textAreaRight" fmla="*/ 8641800 w 8641080"/>
              <a:gd name="textAreaTop" fmla="*/ 0 h 2621160"/>
              <a:gd name="textAreaBottom" fmla="*/ 2621880 h 2621160"/>
            </a:gdLst>
            <a:ahLst/>
            <a:cxnLst/>
            <a:rect l="textAreaLeft" t="textAreaTop" r="textAreaRight" b="textAreaBottom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Freeform 3"/>
          <p:cNvSpPr/>
          <p:nvPr/>
        </p:nvSpPr>
        <p:spPr>
          <a:xfrm>
            <a:off x="16835760" y="146880"/>
            <a:ext cx="1203840" cy="1415520"/>
          </a:xfrm>
          <a:custGeom>
            <a:avLst/>
            <a:gdLst>
              <a:gd name="textAreaLeft" fmla="*/ 0 w 1203840"/>
              <a:gd name="textAreaRight" fmla="*/ 1204560 w 1203840"/>
              <a:gd name="textAreaTop" fmla="*/ 0 h 1415520"/>
              <a:gd name="textAreaBottom" fmla="*/ 1416240 h 1415520"/>
            </a:gdLst>
            <a:ahLst/>
            <a:cxnLst/>
            <a:rect l="textAreaLeft" t="textAreaTop" r="textAreaRight" b="textAreaBottom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Freeform 4"/>
          <p:cNvSpPr/>
          <p:nvPr/>
        </p:nvSpPr>
        <p:spPr>
          <a:xfrm>
            <a:off x="-25920" y="9121320"/>
            <a:ext cx="1164960" cy="1164960"/>
          </a:xfrm>
          <a:custGeom>
            <a:avLst/>
            <a:gdLst>
              <a:gd name="textAreaLeft" fmla="*/ 0 w 1164960"/>
              <a:gd name="textAreaRight" fmla="*/ 1165680 w 1164960"/>
              <a:gd name="textAreaTop" fmla="*/ 0 h 1164960"/>
              <a:gd name="textAreaBottom" fmla="*/ 1165680 h 1164960"/>
            </a:gdLst>
            <a:ahLst/>
            <a:cxnLst/>
            <a:rect l="textAreaLeft" t="textAreaTop" r="textAreaRight" b="textAreaBottom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873000" y="1440000"/>
            <a:ext cx="16587000" cy="130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ts val="6880"/>
              </a:lnSpc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Horizon"/>
                <a:ea typeface="Horizon"/>
              </a:rPr>
              <a:t>yOur Solution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688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Horizon"/>
              </a:rPr>
              <a:t>Project name  :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 Bold"/>
                <a:ea typeface="Times New Roman MT Bold"/>
              </a:rPr>
              <a:t>Low-Power Clock Gating Controller for Mobile SoC 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688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Times New Roman MT Bold"/>
                <a:ea typeface="Times New Roman MT Bold"/>
              </a:rPr>
              <a:t>One-line solution  :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 Bold"/>
                <a:ea typeface="Times New Roman MT Bold"/>
              </a:rPr>
              <a:t>A glitch-free clock gating controller that turns OFF the clock of                 inactive SoC blocks and safely wakes them when required.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algn="just" defTabSz="914400">
              <a:lnSpc>
                <a:spcPts val="688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Times New Roman MT Bold"/>
                <a:ea typeface="Times New Roman MT Bold"/>
              </a:rPr>
              <a:t>How it solves the problem: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algn="just" defTabSz="914400">
              <a:lnSpc>
                <a:spcPts val="688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 Bold"/>
                <a:ea typeface="Times New Roman MT Bold"/>
              </a:rPr>
              <a:t>ICG cells provide glitch-free clock gating. 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algn="just" defTabSz="914400">
              <a:lnSpc>
                <a:spcPts val="688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 Bold"/>
                <a:ea typeface="Times New Roman MT Bold"/>
              </a:rPr>
              <a:t>Enable-based gating reduces dynamic power in idle blocks. 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algn="just" defTabSz="914400">
              <a:lnSpc>
                <a:spcPts val="688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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 MT Bold"/>
                <a:ea typeface="Times New Roman MT Bold"/>
              </a:rPr>
              <a:t>2-FF synchronizer ensures safe asynchronous wake-up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algn="just" defTabSz="914400">
              <a:lnSpc>
                <a:spcPts val="6880"/>
              </a:lnSpc>
              <a:spcBef>
                <a:spcPts val="1191"/>
              </a:spcBef>
              <a:spcAft>
                <a:spcPts val="992"/>
              </a:spcAft>
            </a:pP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algn="just" defTabSz="914400">
              <a:lnSpc>
                <a:spcPts val="6880"/>
              </a:lnSpc>
              <a:spcBef>
                <a:spcPts val="1191"/>
              </a:spcBef>
              <a:spcAft>
                <a:spcPts val="992"/>
              </a:spcAft>
            </a:pP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algn="just" defTabSz="914400">
              <a:lnSpc>
                <a:spcPts val="6880"/>
              </a:lnSpc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algn="just" defTabSz="914400">
              <a:lnSpc>
                <a:spcPts val="6880"/>
              </a:lnSpc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7160"/>
              </a:lnSpc>
            </a:pPr>
            <a:endParaRPr lang="en-IN" sz="5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Freeform 5"/>
          <p:cNvSpPr/>
          <p:nvPr/>
        </p:nvSpPr>
        <p:spPr>
          <a:xfrm flipH="1" flipV="1">
            <a:off x="10800" y="-11268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Freeform 6"/>
          <p:cNvSpPr/>
          <p:nvPr/>
        </p:nvSpPr>
        <p:spPr>
          <a:xfrm flipH="1" flipV="1" rot="10800000">
            <a:off x="16306920" y="795600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Freeform 7"/>
          <p:cNvSpPr/>
          <p:nvPr/>
        </p:nvSpPr>
        <p:spPr>
          <a:xfrm>
            <a:off x="11160000" y="1260000"/>
            <a:ext cx="7263720" cy="9317520"/>
          </a:xfrm>
          <a:custGeom>
            <a:avLst/>
            <a:gdLst>
              <a:gd name="textAreaLeft" fmla="*/ 0 w 7263720"/>
              <a:gd name="textAreaRight" fmla="*/ 7264440 w 7263720"/>
              <a:gd name="textAreaTop" fmla="*/ 0 h 9317520"/>
              <a:gd name="textAreaBottom" fmla="*/ 9318240 h 9317520"/>
            </a:gdLst>
            <a:ahLst/>
            <a:cxnLst/>
            <a:rect l="textAreaLeft" t="textAreaTop" r="textAreaRight" b="textAreaBottom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  <a:alphaModFix amt="7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2"/>
          <p:cNvSpPr/>
          <p:nvPr/>
        </p:nvSpPr>
        <p:spPr>
          <a:xfrm>
            <a:off x="521856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1133028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Freeform 4"/>
          <p:cNvSpPr/>
          <p:nvPr/>
        </p:nvSpPr>
        <p:spPr>
          <a:xfrm>
            <a:off x="4600800" y="-456120"/>
            <a:ext cx="8641080" cy="2621160"/>
          </a:xfrm>
          <a:custGeom>
            <a:avLst/>
            <a:gdLst>
              <a:gd name="textAreaLeft" fmla="*/ 0 w 8641080"/>
              <a:gd name="textAreaRight" fmla="*/ 8641800 w 8641080"/>
              <a:gd name="textAreaTop" fmla="*/ 0 h 2621160"/>
              <a:gd name="textAreaBottom" fmla="*/ 2621880 h 2621160"/>
            </a:gdLst>
            <a:ahLst/>
            <a:cxnLst/>
            <a:rect l="textAreaLeft" t="textAreaTop" r="textAreaRight" b="textAreaBottom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Freeform 5"/>
          <p:cNvSpPr/>
          <p:nvPr/>
        </p:nvSpPr>
        <p:spPr>
          <a:xfrm>
            <a:off x="-25920" y="9121320"/>
            <a:ext cx="1164960" cy="1164960"/>
          </a:xfrm>
          <a:custGeom>
            <a:avLst/>
            <a:gdLst>
              <a:gd name="textAreaLeft" fmla="*/ 0 w 1164960"/>
              <a:gd name="textAreaRight" fmla="*/ 1165680 w 1164960"/>
              <a:gd name="textAreaTop" fmla="*/ 0 h 1164960"/>
              <a:gd name="textAreaBottom" fmla="*/ 1165680 h 1164960"/>
            </a:gdLst>
            <a:ahLst/>
            <a:cxnLst/>
            <a:rect l="textAreaLeft" t="textAreaTop" r="textAreaRight" b="textAreaBottom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Freeform 6"/>
          <p:cNvSpPr/>
          <p:nvPr/>
        </p:nvSpPr>
        <p:spPr>
          <a:xfrm>
            <a:off x="8780400" y="968760"/>
            <a:ext cx="8923320" cy="9317520"/>
          </a:xfrm>
          <a:custGeom>
            <a:avLst/>
            <a:gdLst>
              <a:gd name="textAreaLeft" fmla="*/ 0 w 8923320"/>
              <a:gd name="textAreaRight" fmla="*/ 8924040 w 8923320"/>
              <a:gd name="textAreaTop" fmla="*/ 0 h 9317520"/>
              <a:gd name="textAreaBottom" fmla="*/ 9318240 h 9317520"/>
            </a:gdLst>
            <a:ahLst/>
            <a:cxnLst/>
            <a:rect l="textAreaLeft" t="textAreaTop" r="textAreaRight" b="textAreaBottom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  <a:alphaModFix amt="7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Freeform 7"/>
          <p:cNvSpPr/>
          <p:nvPr/>
        </p:nvSpPr>
        <p:spPr>
          <a:xfrm flipH="1" flipV="1" rot="10800000">
            <a:off x="16306920" y="795600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Freeform 8"/>
          <p:cNvSpPr/>
          <p:nvPr/>
        </p:nvSpPr>
        <p:spPr>
          <a:xfrm flipH="1" flipV="1">
            <a:off x="10800" y="-11268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Freeform 9"/>
          <p:cNvSpPr/>
          <p:nvPr/>
        </p:nvSpPr>
        <p:spPr>
          <a:xfrm>
            <a:off x="16835760" y="146880"/>
            <a:ext cx="1203840" cy="1415520"/>
          </a:xfrm>
          <a:custGeom>
            <a:avLst/>
            <a:gdLst>
              <a:gd name="textAreaLeft" fmla="*/ 0 w 1203840"/>
              <a:gd name="textAreaRight" fmla="*/ 1204560 w 1203840"/>
              <a:gd name="textAreaTop" fmla="*/ 0 h 1415520"/>
              <a:gd name="textAreaBottom" fmla="*/ 1416240 h 1415520"/>
            </a:gdLst>
            <a:ahLst/>
            <a:cxnLst/>
            <a:rect l="textAreaLeft" t="textAreaTop" r="textAreaRight" b="textAreaBottom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2700000" y="1800000"/>
            <a:ext cx="1380708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153"/>
              </a:lnSpc>
            </a:pPr>
            <a:r>
              <a:rPr lang="en-US" sz="3680" b="0" u="none" strike="noStrike">
                <a:solidFill>
                  <a:srgbClr val="000000"/>
                </a:solidFill>
                <a:effectLst/>
                <a:uFillTx/>
                <a:latin typeface="Horizon"/>
                <a:ea typeface="Horizon"/>
              </a:rPr>
              <a:t>Architectural Block Diagram</a:t>
            </a:r>
            <a:endParaRPr lang="en-IN" sz="3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"/>
          <p:cNvPicPr/>
          <p:nvPr/>
        </p:nvPicPr>
        <p:blipFill>
          <a:blip r:embed="rId8"/>
          <a:stretch/>
        </p:blipFill>
        <p:spPr>
          <a:xfrm>
            <a:off x="2880000" y="2561400"/>
            <a:ext cx="12780000" cy="733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2"/>
          <p:cNvSpPr/>
          <p:nvPr/>
        </p:nvSpPr>
        <p:spPr>
          <a:xfrm>
            <a:off x="2221560" y="3097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1133028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Freeform 4"/>
          <p:cNvSpPr/>
          <p:nvPr/>
        </p:nvSpPr>
        <p:spPr>
          <a:xfrm>
            <a:off x="4600800" y="-456120"/>
            <a:ext cx="8641080" cy="2621160"/>
          </a:xfrm>
          <a:custGeom>
            <a:avLst/>
            <a:gdLst>
              <a:gd name="textAreaLeft" fmla="*/ 0 w 8641080"/>
              <a:gd name="textAreaRight" fmla="*/ 8641800 w 8641080"/>
              <a:gd name="textAreaTop" fmla="*/ 0 h 2621160"/>
              <a:gd name="textAreaBottom" fmla="*/ 2621880 h 2621160"/>
            </a:gdLst>
            <a:ahLst/>
            <a:cxnLst/>
            <a:rect l="textAreaLeft" t="textAreaTop" r="textAreaRight" b="textAreaBottom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Freeform 5"/>
          <p:cNvSpPr/>
          <p:nvPr/>
        </p:nvSpPr>
        <p:spPr>
          <a:xfrm>
            <a:off x="-25920" y="9121320"/>
            <a:ext cx="1164960" cy="1164960"/>
          </a:xfrm>
          <a:custGeom>
            <a:avLst/>
            <a:gdLst>
              <a:gd name="textAreaLeft" fmla="*/ 0 w 1164960"/>
              <a:gd name="textAreaRight" fmla="*/ 1165680 w 1164960"/>
              <a:gd name="textAreaTop" fmla="*/ 0 h 1164960"/>
              <a:gd name="textAreaBottom" fmla="*/ 1165680 h 1164960"/>
            </a:gdLst>
            <a:ahLst/>
            <a:cxnLst/>
            <a:rect l="textAreaLeft" t="textAreaTop" r="textAreaRight" b="textAreaBottom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reeform 6"/>
          <p:cNvSpPr/>
          <p:nvPr/>
        </p:nvSpPr>
        <p:spPr>
          <a:xfrm>
            <a:off x="8780400" y="968760"/>
            <a:ext cx="8923320" cy="9317520"/>
          </a:xfrm>
          <a:custGeom>
            <a:avLst/>
            <a:gdLst>
              <a:gd name="textAreaLeft" fmla="*/ 0 w 8923320"/>
              <a:gd name="textAreaRight" fmla="*/ 8924040 w 8923320"/>
              <a:gd name="textAreaTop" fmla="*/ 0 h 9317520"/>
              <a:gd name="textAreaBottom" fmla="*/ 9318240 h 9317520"/>
            </a:gdLst>
            <a:ahLst/>
            <a:cxnLst/>
            <a:rect l="textAreaLeft" t="textAreaTop" r="textAreaRight" b="textAreaBottom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  <a:alphaModFix amt="7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Freeform 7"/>
          <p:cNvSpPr/>
          <p:nvPr/>
        </p:nvSpPr>
        <p:spPr>
          <a:xfrm flipH="1" flipV="1" rot="10800000">
            <a:off x="16306920" y="795600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Freeform 8"/>
          <p:cNvSpPr/>
          <p:nvPr/>
        </p:nvSpPr>
        <p:spPr>
          <a:xfrm flipH="1" flipV="1">
            <a:off x="10800" y="-11268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Freeform 9"/>
          <p:cNvSpPr/>
          <p:nvPr/>
        </p:nvSpPr>
        <p:spPr>
          <a:xfrm>
            <a:off x="16835760" y="146880"/>
            <a:ext cx="1203840" cy="1415520"/>
          </a:xfrm>
          <a:custGeom>
            <a:avLst/>
            <a:gdLst>
              <a:gd name="textAreaLeft" fmla="*/ 0 w 1203840"/>
              <a:gd name="textAreaRight" fmla="*/ 1204560 w 1203840"/>
              <a:gd name="textAreaTop" fmla="*/ 0 h 1415520"/>
              <a:gd name="textAreaBottom" fmla="*/ 1416240 h 1415520"/>
            </a:gdLst>
            <a:ahLst/>
            <a:cxnLst/>
            <a:rect l="textAreaLeft" t="textAreaTop" r="textAreaRight" b="textAreaBottom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1367640" y="1884600"/>
            <a:ext cx="1843236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000"/>
              </a:lnSpc>
            </a:pPr>
            <a:r>
              <a:rPr lang="en-US" sz="3570" b="0" u="none" strike="noStrike">
                <a:solidFill>
                  <a:srgbClr val="000000"/>
                </a:solidFill>
                <a:effectLst/>
                <a:uFillTx/>
                <a:latin typeface="Horizon"/>
                <a:ea typeface="Horizon"/>
              </a:rPr>
              <a:t>Purpose of Blocks</a:t>
            </a:r>
            <a:endParaRPr lang="en-IN" sz="3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5" name=""/>
          <p:cNvGraphicFramePr/>
          <p:nvPr/>
        </p:nvGraphicFramePr>
        <p:xfrm>
          <a:off x="448560" y="2765880"/>
          <a:ext cx="17099280" cy="5874120"/>
        </p:xfrm>
        <a:graphic>
          <a:graphicData uri="http://schemas.openxmlformats.org/drawingml/2006/table">
            <a:tbl>
              <a:tblPr/>
              <a:tblGrid>
                <a:gridCol w="5698440"/>
                <a:gridCol w="5698440"/>
                <a:gridCol w="5702760"/>
              </a:tblGrid>
              <a:tr h="1284840">
                <a:tc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/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Block Type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    Blocks in Diagram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/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Purpose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8484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            Input Block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clk, rst_n, enable signals, async_wakeup, test_enable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To collect required control and status inputs.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781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          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            Processing Block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Synchronizer, Logic Gates, ICG Cells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To analyze inputs and generate glitch-free gated clocks.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266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           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            Output Block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CPU, SRAM, GPIO, TIMER, UART and their activity outputs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IN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To provide the final result through functional operation and activity status. </a:t>
                      </a:r>
                      <a:endParaRPr lang="en-IN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2"/>
          <p:cNvSpPr/>
          <p:nvPr/>
        </p:nvSpPr>
        <p:spPr>
          <a:xfrm>
            <a:off x="521856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1133028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Freeform 4"/>
          <p:cNvSpPr/>
          <p:nvPr/>
        </p:nvSpPr>
        <p:spPr>
          <a:xfrm>
            <a:off x="4600800" y="-456120"/>
            <a:ext cx="8641080" cy="2621160"/>
          </a:xfrm>
          <a:custGeom>
            <a:avLst/>
            <a:gdLst>
              <a:gd name="textAreaLeft" fmla="*/ 0 w 8641080"/>
              <a:gd name="textAreaRight" fmla="*/ 8641800 w 8641080"/>
              <a:gd name="textAreaTop" fmla="*/ 0 h 2621160"/>
              <a:gd name="textAreaBottom" fmla="*/ 2621880 h 2621160"/>
            </a:gdLst>
            <a:ahLst/>
            <a:cxnLst/>
            <a:rect l="textAreaLeft" t="textAreaTop" r="textAreaRight" b="textAreaBottom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Freeform 5"/>
          <p:cNvSpPr/>
          <p:nvPr/>
        </p:nvSpPr>
        <p:spPr>
          <a:xfrm>
            <a:off x="-25920" y="9121320"/>
            <a:ext cx="1164960" cy="1164960"/>
          </a:xfrm>
          <a:custGeom>
            <a:avLst/>
            <a:gdLst>
              <a:gd name="textAreaLeft" fmla="*/ 0 w 1164960"/>
              <a:gd name="textAreaRight" fmla="*/ 1165680 w 1164960"/>
              <a:gd name="textAreaTop" fmla="*/ 0 h 1164960"/>
              <a:gd name="textAreaBottom" fmla="*/ 1165680 h 1164960"/>
            </a:gdLst>
            <a:ahLst/>
            <a:cxnLst/>
            <a:rect l="textAreaLeft" t="textAreaTop" r="textAreaRight" b="textAreaBottom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Freeform 6"/>
          <p:cNvSpPr/>
          <p:nvPr/>
        </p:nvSpPr>
        <p:spPr>
          <a:xfrm>
            <a:off x="8780400" y="968760"/>
            <a:ext cx="8923320" cy="9317520"/>
          </a:xfrm>
          <a:custGeom>
            <a:avLst/>
            <a:gdLst>
              <a:gd name="textAreaLeft" fmla="*/ 0 w 8923320"/>
              <a:gd name="textAreaRight" fmla="*/ 8924040 w 8923320"/>
              <a:gd name="textAreaTop" fmla="*/ 0 h 9317520"/>
              <a:gd name="textAreaBottom" fmla="*/ 9318240 h 9317520"/>
            </a:gdLst>
            <a:ahLst/>
            <a:cxnLst/>
            <a:rect l="textAreaLeft" t="textAreaTop" r="textAreaRight" b="textAreaBottom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  <a:alphaModFix amt="7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Freeform 7"/>
          <p:cNvSpPr/>
          <p:nvPr/>
        </p:nvSpPr>
        <p:spPr>
          <a:xfrm flipH="1" flipV="1" rot="10800000">
            <a:off x="16306920" y="795600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Freeform 8"/>
          <p:cNvSpPr/>
          <p:nvPr/>
        </p:nvSpPr>
        <p:spPr>
          <a:xfrm flipH="1" flipV="1">
            <a:off x="10800" y="-11268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Freeform 9"/>
          <p:cNvSpPr/>
          <p:nvPr/>
        </p:nvSpPr>
        <p:spPr>
          <a:xfrm>
            <a:off x="16835760" y="146880"/>
            <a:ext cx="1203840" cy="1415520"/>
          </a:xfrm>
          <a:custGeom>
            <a:avLst/>
            <a:gdLst>
              <a:gd name="textAreaLeft" fmla="*/ 0 w 1203840"/>
              <a:gd name="textAreaRight" fmla="*/ 1204560 w 1203840"/>
              <a:gd name="textAreaTop" fmla="*/ 0 h 1415520"/>
              <a:gd name="textAreaBottom" fmla="*/ 1416240 h 1415520"/>
            </a:gdLst>
            <a:ahLst/>
            <a:cxnLst/>
            <a:rect l="textAreaLeft" t="textAreaTop" r="textAreaRight" b="textAreaBottom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180000" y="1620000"/>
            <a:ext cx="16371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442"/>
              </a:lnSpc>
            </a:pPr>
            <a:r>
              <a:rPr lang="en-US" sz="3170" b="0" u="none" strike="noStrike">
                <a:solidFill>
                  <a:srgbClr val="000000"/>
                </a:solidFill>
                <a:effectLst/>
                <a:uFillTx/>
                <a:latin typeface="Horizon"/>
                <a:ea typeface="Horizon"/>
              </a:rPr>
              <a:t>OUTPUT</a:t>
            </a:r>
            <a:endParaRPr lang="en-IN" sz="3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8"/>
          <a:stretch/>
        </p:blipFill>
        <p:spPr>
          <a:xfrm>
            <a:off x="2880000" y="2520000"/>
            <a:ext cx="13320000" cy="720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521856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1133028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Freeform 1"/>
          <p:cNvSpPr/>
          <p:nvPr/>
        </p:nvSpPr>
        <p:spPr>
          <a:xfrm>
            <a:off x="4600800" y="-456120"/>
            <a:ext cx="8641080" cy="2621160"/>
          </a:xfrm>
          <a:custGeom>
            <a:avLst/>
            <a:gdLst>
              <a:gd name="textAreaLeft" fmla="*/ 0 w 8641080"/>
              <a:gd name="textAreaRight" fmla="*/ 8641800 w 8641080"/>
              <a:gd name="textAreaTop" fmla="*/ 0 h 2621160"/>
              <a:gd name="textAreaBottom" fmla="*/ 2621880 h 2621160"/>
            </a:gdLst>
            <a:ahLst/>
            <a:cxnLst/>
            <a:rect l="textAreaLeft" t="textAreaTop" r="textAreaRight" b="textAreaBottom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Freeform 10"/>
          <p:cNvSpPr/>
          <p:nvPr/>
        </p:nvSpPr>
        <p:spPr>
          <a:xfrm>
            <a:off x="-25920" y="9121320"/>
            <a:ext cx="1164960" cy="1164960"/>
          </a:xfrm>
          <a:custGeom>
            <a:avLst/>
            <a:gdLst>
              <a:gd name="textAreaLeft" fmla="*/ 0 w 1164960"/>
              <a:gd name="textAreaRight" fmla="*/ 1165680 w 1164960"/>
              <a:gd name="textAreaTop" fmla="*/ 0 h 1164960"/>
              <a:gd name="textAreaBottom" fmla="*/ 1165680 h 1164960"/>
            </a:gdLst>
            <a:ahLst/>
            <a:cxnLst/>
            <a:rect l="textAreaLeft" t="textAreaTop" r="textAreaRight" b="textAreaBottom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reeform 11"/>
          <p:cNvSpPr/>
          <p:nvPr/>
        </p:nvSpPr>
        <p:spPr>
          <a:xfrm>
            <a:off x="8780400" y="968760"/>
            <a:ext cx="8923320" cy="9317520"/>
          </a:xfrm>
          <a:custGeom>
            <a:avLst/>
            <a:gdLst>
              <a:gd name="textAreaLeft" fmla="*/ 0 w 8923320"/>
              <a:gd name="textAreaRight" fmla="*/ 8924040 w 8923320"/>
              <a:gd name="textAreaTop" fmla="*/ 0 h 9317520"/>
              <a:gd name="textAreaBottom" fmla="*/ 9318240 h 9317520"/>
            </a:gdLst>
            <a:ahLst/>
            <a:cxnLst/>
            <a:rect l="textAreaLeft" t="textAreaTop" r="textAreaRight" b="textAreaBottom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  <a:alphaModFix amt="7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Freeform 12"/>
          <p:cNvSpPr/>
          <p:nvPr/>
        </p:nvSpPr>
        <p:spPr>
          <a:xfrm flipH="1" flipV="1" rot="10800000">
            <a:off x="16306920" y="795600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Freeform 13"/>
          <p:cNvSpPr/>
          <p:nvPr/>
        </p:nvSpPr>
        <p:spPr>
          <a:xfrm flipH="1" flipV="1">
            <a:off x="10800" y="-11268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Freeform 14"/>
          <p:cNvSpPr/>
          <p:nvPr/>
        </p:nvSpPr>
        <p:spPr>
          <a:xfrm>
            <a:off x="16835760" y="146880"/>
            <a:ext cx="1203840" cy="1415520"/>
          </a:xfrm>
          <a:custGeom>
            <a:avLst/>
            <a:gdLst>
              <a:gd name="textAreaLeft" fmla="*/ 0 w 1203840"/>
              <a:gd name="textAreaRight" fmla="*/ 1204560 w 1203840"/>
              <a:gd name="textAreaTop" fmla="*/ 0 h 1415520"/>
              <a:gd name="textAreaBottom" fmla="*/ 1416240 h 1415520"/>
            </a:gdLst>
            <a:ahLst/>
            <a:cxnLst/>
            <a:rect l="textAreaLeft" t="textAreaTop" r="textAreaRight" b="textAreaBottom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5"/>
          <p:cNvSpPr/>
          <p:nvPr/>
        </p:nvSpPr>
        <p:spPr>
          <a:xfrm>
            <a:off x="180000" y="1620000"/>
            <a:ext cx="16371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442"/>
              </a:lnSpc>
            </a:pPr>
            <a:r>
              <a:rPr lang="en-US" sz="3170" b="0" u="none" strike="noStrike">
                <a:solidFill>
                  <a:srgbClr val="000000"/>
                </a:solidFill>
                <a:effectLst/>
                <a:uFillTx/>
                <a:latin typeface="Horizon"/>
                <a:ea typeface="Horizon"/>
              </a:rPr>
              <a:t>SYNTHESIS OUTPUT</a:t>
            </a:r>
            <a:endParaRPr lang="en-IN" sz="3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"/>
          <p:cNvPicPr/>
          <p:nvPr/>
        </p:nvPicPr>
        <p:blipFill>
          <a:blip r:embed="rId8"/>
          <a:stretch/>
        </p:blipFill>
        <p:spPr>
          <a:xfrm>
            <a:off x="2700000" y="2700000"/>
            <a:ext cx="12780000" cy="710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"/>
          <p:cNvSpPr/>
          <p:nvPr/>
        </p:nvSpPr>
        <p:spPr>
          <a:xfrm>
            <a:off x="521856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4"/>
          <p:cNvSpPr/>
          <p:nvPr/>
        </p:nvSpPr>
        <p:spPr>
          <a:xfrm>
            <a:off x="1133028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Freeform 15"/>
          <p:cNvSpPr/>
          <p:nvPr/>
        </p:nvSpPr>
        <p:spPr>
          <a:xfrm>
            <a:off x="4600800" y="-456120"/>
            <a:ext cx="8641080" cy="2621160"/>
          </a:xfrm>
          <a:custGeom>
            <a:avLst/>
            <a:gdLst>
              <a:gd name="textAreaLeft" fmla="*/ 0 w 8641080"/>
              <a:gd name="textAreaRight" fmla="*/ 8641800 w 8641080"/>
              <a:gd name="textAreaTop" fmla="*/ 0 h 2621160"/>
              <a:gd name="textAreaBottom" fmla="*/ 2621880 h 2621160"/>
            </a:gdLst>
            <a:ahLst/>
            <a:cxnLst/>
            <a:rect l="textAreaLeft" t="textAreaTop" r="textAreaRight" b="textAreaBottom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Freeform 16"/>
          <p:cNvSpPr/>
          <p:nvPr/>
        </p:nvSpPr>
        <p:spPr>
          <a:xfrm>
            <a:off x="-25920" y="9121320"/>
            <a:ext cx="1164960" cy="1164960"/>
          </a:xfrm>
          <a:custGeom>
            <a:avLst/>
            <a:gdLst>
              <a:gd name="textAreaLeft" fmla="*/ 0 w 1164960"/>
              <a:gd name="textAreaRight" fmla="*/ 1165680 w 1164960"/>
              <a:gd name="textAreaTop" fmla="*/ 0 h 1164960"/>
              <a:gd name="textAreaBottom" fmla="*/ 1165680 h 1164960"/>
            </a:gdLst>
            <a:ahLst/>
            <a:cxnLst/>
            <a:rect l="textAreaLeft" t="textAreaTop" r="textAreaRight" b="textAreaBottom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reeform 17"/>
          <p:cNvSpPr/>
          <p:nvPr/>
        </p:nvSpPr>
        <p:spPr>
          <a:xfrm>
            <a:off x="8780400" y="968760"/>
            <a:ext cx="8923320" cy="9317520"/>
          </a:xfrm>
          <a:custGeom>
            <a:avLst/>
            <a:gdLst>
              <a:gd name="textAreaLeft" fmla="*/ 0 w 8923320"/>
              <a:gd name="textAreaRight" fmla="*/ 8924040 w 8923320"/>
              <a:gd name="textAreaTop" fmla="*/ 0 h 9317520"/>
              <a:gd name="textAreaBottom" fmla="*/ 9318240 h 9317520"/>
            </a:gdLst>
            <a:ahLst/>
            <a:cxnLst/>
            <a:rect l="textAreaLeft" t="textAreaTop" r="textAreaRight" b="textAreaBottom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  <a:alphaModFix amt="7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Freeform 18"/>
          <p:cNvSpPr/>
          <p:nvPr/>
        </p:nvSpPr>
        <p:spPr>
          <a:xfrm flipH="1" flipV="1" rot="10800000">
            <a:off x="16306920" y="795600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Freeform 19"/>
          <p:cNvSpPr/>
          <p:nvPr/>
        </p:nvSpPr>
        <p:spPr>
          <a:xfrm flipH="1" flipV="1">
            <a:off x="10800" y="-11268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Freeform 20"/>
          <p:cNvSpPr/>
          <p:nvPr/>
        </p:nvSpPr>
        <p:spPr>
          <a:xfrm>
            <a:off x="16835760" y="146880"/>
            <a:ext cx="1203840" cy="1415520"/>
          </a:xfrm>
          <a:custGeom>
            <a:avLst/>
            <a:gdLst>
              <a:gd name="textAreaLeft" fmla="*/ 0 w 1203840"/>
              <a:gd name="textAreaRight" fmla="*/ 1204560 w 1203840"/>
              <a:gd name="textAreaTop" fmla="*/ 0 h 1415520"/>
              <a:gd name="textAreaBottom" fmla="*/ 1416240 h 1415520"/>
            </a:gdLst>
            <a:ahLst/>
            <a:cxnLst/>
            <a:rect l="textAreaLeft" t="textAreaTop" r="textAreaRight" b="textAreaBottom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15"/>
          <p:cNvSpPr/>
          <p:nvPr/>
        </p:nvSpPr>
        <p:spPr>
          <a:xfrm>
            <a:off x="180000" y="1620000"/>
            <a:ext cx="1637136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442"/>
              </a:lnSpc>
            </a:pPr>
            <a:r>
              <a:rPr lang="en-US" sz="3170" b="0" u="none" strike="noStrike">
                <a:solidFill>
                  <a:srgbClr val="000000"/>
                </a:solidFill>
                <a:effectLst/>
                <a:uFillTx/>
                <a:latin typeface="Horizon"/>
                <a:ea typeface="Horizon"/>
              </a:rPr>
              <a:t>PHYSICAL DESIGN  OUTPUT</a:t>
            </a:r>
            <a:endParaRPr lang="en-IN" sz="3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"/>
          <p:cNvPicPr/>
          <p:nvPr/>
        </p:nvPicPr>
        <p:blipFill>
          <a:blip r:embed="rId8"/>
          <a:stretch/>
        </p:blipFill>
        <p:spPr>
          <a:xfrm>
            <a:off x="2520000" y="2700000"/>
            <a:ext cx="12465720" cy="676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2"/>
          <p:cNvSpPr/>
          <p:nvPr/>
        </p:nvSpPr>
        <p:spPr>
          <a:xfrm>
            <a:off x="521856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1133028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Freeform 4"/>
          <p:cNvSpPr/>
          <p:nvPr/>
        </p:nvSpPr>
        <p:spPr>
          <a:xfrm>
            <a:off x="4600800" y="-456120"/>
            <a:ext cx="8641080" cy="2621160"/>
          </a:xfrm>
          <a:custGeom>
            <a:avLst/>
            <a:gdLst>
              <a:gd name="textAreaLeft" fmla="*/ 0 w 8641080"/>
              <a:gd name="textAreaRight" fmla="*/ 8641800 w 8641080"/>
              <a:gd name="textAreaTop" fmla="*/ 0 h 2621160"/>
              <a:gd name="textAreaBottom" fmla="*/ 2621880 h 2621160"/>
            </a:gdLst>
            <a:ahLst/>
            <a:cxnLst/>
            <a:rect l="textAreaLeft" t="textAreaTop" r="textAreaRight" b="textAreaBottom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Freeform 5"/>
          <p:cNvSpPr/>
          <p:nvPr/>
        </p:nvSpPr>
        <p:spPr>
          <a:xfrm>
            <a:off x="-25920" y="9121320"/>
            <a:ext cx="1164960" cy="1164960"/>
          </a:xfrm>
          <a:custGeom>
            <a:avLst/>
            <a:gdLst>
              <a:gd name="textAreaLeft" fmla="*/ 0 w 1164960"/>
              <a:gd name="textAreaRight" fmla="*/ 1165680 w 1164960"/>
              <a:gd name="textAreaTop" fmla="*/ 0 h 1164960"/>
              <a:gd name="textAreaBottom" fmla="*/ 1165680 h 1164960"/>
            </a:gdLst>
            <a:ahLst/>
            <a:cxnLst/>
            <a:rect l="textAreaLeft" t="textAreaTop" r="textAreaRight" b="textAreaBottom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Freeform 6"/>
          <p:cNvSpPr/>
          <p:nvPr/>
        </p:nvSpPr>
        <p:spPr>
          <a:xfrm>
            <a:off x="8780400" y="968760"/>
            <a:ext cx="8923320" cy="9317520"/>
          </a:xfrm>
          <a:custGeom>
            <a:avLst/>
            <a:gdLst>
              <a:gd name="textAreaLeft" fmla="*/ 0 w 8923320"/>
              <a:gd name="textAreaRight" fmla="*/ 8924040 w 8923320"/>
              <a:gd name="textAreaTop" fmla="*/ 0 h 9317520"/>
              <a:gd name="textAreaBottom" fmla="*/ 9318240 h 9317520"/>
            </a:gdLst>
            <a:ahLst/>
            <a:cxnLst/>
            <a:rect l="textAreaLeft" t="textAreaTop" r="textAreaRight" b="textAreaBottom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  <a:alphaModFix amt="7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Freeform 7"/>
          <p:cNvSpPr/>
          <p:nvPr/>
        </p:nvSpPr>
        <p:spPr>
          <a:xfrm flipH="1" flipV="1" rot="10800000">
            <a:off x="16306920" y="795600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Freeform 8"/>
          <p:cNvSpPr/>
          <p:nvPr/>
        </p:nvSpPr>
        <p:spPr>
          <a:xfrm flipH="1" flipV="1">
            <a:off x="10800" y="-11268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reeform 9"/>
          <p:cNvSpPr/>
          <p:nvPr/>
        </p:nvSpPr>
        <p:spPr>
          <a:xfrm>
            <a:off x="16835760" y="146880"/>
            <a:ext cx="1203840" cy="1415520"/>
          </a:xfrm>
          <a:custGeom>
            <a:avLst/>
            <a:gdLst>
              <a:gd name="textAreaLeft" fmla="*/ 0 w 1203840"/>
              <a:gd name="textAreaRight" fmla="*/ 1204560 w 1203840"/>
              <a:gd name="textAreaTop" fmla="*/ 0 h 1415520"/>
              <a:gd name="textAreaBottom" fmla="*/ 1416240 h 1415520"/>
            </a:gdLst>
            <a:ahLst/>
            <a:cxnLst/>
            <a:rect l="textAreaLeft" t="textAreaTop" r="textAreaRight" b="textAreaBottom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0"/>
          <p:cNvSpPr/>
          <p:nvPr/>
        </p:nvSpPr>
        <p:spPr>
          <a:xfrm>
            <a:off x="-210600" y="1800000"/>
            <a:ext cx="189889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53"/>
              </a:lnSpc>
            </a:pPr>
            <a:r>
              <a:rPr lang="en-US" sz="3680" b="0" u="none" strike="noStrike">
                <a:solidFill>
                  <a:srgbClr val="000000"/>
                </a:solidFill>
                <a:effectLst/>
                <a:uFillTx/>
                <a:latin typeface="Horizon"/>
                <a:ea typeface="Horizon"/>
              </a:rPr>
              <a:t>RESEARCH AND REFERENCEs</a:t>
            </a:r>
            <a:endParaRPr lang="en-IN" sz="3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5153"/>
              </a:lnSpc>
            </a:pPr>
            <a:endParaRPr lang="en-IN" sz="3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360000" y="2839320"/>
            <a:ext cx="17280000" cy="791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1.S. Kalale, S. K. Panda, M. G. Asuti and S. D, "</a:t>
            </a: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Design and Verification of a Glitch-Filtered Clock Gating Controller Using System Verilog," 2026 International Conference on Intelligent and Innovative Technologies in Computing, Electrical and Electronics (IITCEE), Bangalore, India, 2026,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pp. 1-5, doi: 10.1109/IITCEE67948.2026.11394610. keywords: {Power demand;Simulation;Switches;Logic gates;Stability analysis;System-on-chip;Reliability;Hardware design languages;Field programmable gate arrays;Clocks;Glitch Filter;dynamic power;Cadence;SoC's;FPGA;optimized area;filtered signal;gated clock}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2.Malladhi, Nagarjuna, and Girish V. Attimarad. "</a:t>
            </a: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Design and development of low power NoC architecture using clock gating technique for SoC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applications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." Engineering Research Express 7.2 (2025): 025316.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3. Prabhu, B., and Second Year BE ECE. "</a:t>
            </a: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 Review of Low Power Design Techniques in System-on-Chip (SoC) Architectures.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"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4. J. -G. Lee, Y. Choi, H. Jeon, J. -J. Lee and D. Shin, </a:t>
            </a: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"Fully Automated Hardware-Driven Clock-Gating Architecture With Complete Clock Coverage for 4 nm Exynos Mobile SOC,"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in IEEE Journal of Solid-State Circuits, vol. 58, no. 1, pp. 90-101, Jan. 2023, doi: 10.1109/JSSC.2022.3219410. keywords: {Clocks;Phase locked loops;Behavioral sciences;Power system dynamics;Optimization;Power dissipation;Power demand;Clock;dynamic power consumption;power control;power;system-on-chip (SOC)}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5. Su, Han, Jianbin Liu, and Yanfeng Jiang. "</a:t>
            </a: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 40-nm low-power WiFi SoC with clock gating and power management strategy.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" International Journal of Electronics 110.9 (2023): 1633-1651.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6. Sun, Yin’Ang, et al. "</a:t>
            </a: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Design and implementation of ultra-low power consumption for high-performance SoC."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2022 7th International Conference on Integrated Circuits and Microsystems (ICICM). IEEE, 2022.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E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6"/>
          <p:cNvSpPr/>
          <p:nvPr/>
        </p:nvSpPr>
        <p:spPr>
          <a:xfrm>
            <a:off x="1133028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Freeform 21"/>
          <p:cNvSpPr/>
          <p:nvPr/>
        </p:nvSpPr>
        <p:spPr>
          <a:xfrm>
            <a:off x="4600800" y="-456120"/>
            <a:ext cx="8641080" cy="2621160"/>
          </a:xfrm>
          <a:custGeom>
            <a:avLst/>
            <a:gdLst>
              <a:gd name="textAreaLeft" fmla="*/ 0 w 8641080"/>
              <a:gd name="textAreaRight" fmla="*/ 8641800 w 8641080"/>
              <a:gd name="textAreaTop" fmla="*/ 0 h 2621160"/>
              <a:gd name="textAreaBottom" fmla="*/ 2621880 h 2621160"/>
            </a:gdLst>
            <a:ahLst/>
            <a:cxnLst/>
            <a:rect l="textAreaLeft" t="textAreaTop" r="textAreaRight" b="textAreaBottom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Freeform 22"/>
          <p:cNvSpPr/>
          <p:nvPr/>
        </p:nvSpPr>
        <p:spPr>
          <a:xfrm>
            <a:off x="-25920" y="9121320"/>
            <a:ext cx="1164960" cy="1164960"/>
          </a:xfrm>
          <a:custGeom>
            <a:avLst/>
            <a:gdLst>
              <a:gd name="textAreaLeft" fmla="*/ 0 w 1164960"/>
              <a:gd name="textAreaRight" fmla="*/ 1165680 w 1164960"/>
              <a:gd name="textAreaTop" fmla="*/ 0 h 1164960"/>
              <a:gd name="textAreaBottom" fmla="*/ 1165680 h 1164960"/>
            </a:gdLst>
            <a:ahLst/>
            <a:cxnLst/>
            <a:rect l="textAreaLeft" t="textAreaTop" r="textAreaRight" b="textAreaBottom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Freeform 23"/>
          <p:cNvSpPr/>
          <p:nvPr/>
        </p:nvSpPr>
        <p:spPr>
          <a:xfrm>
            <a:off x="8780400" y="968760"/>
            <a:ext cx="8923320" cy="9317520"/>
          </a:xfrm>
          <a:custGeom>
            <a:avLst/>
            <a:gdLst>
              <a:gd name="textAreaLeft" fmla="*/ 0 w 8923320"/>
              <a:gd name="textAreaRight" fmla="*/ 8924040 w 8923320"/>
              <a:gd name="textAreaTop" fmla="*/ 0 h 9317520"/>
              <a:gd name="textAreaBottom" fmla="*/ 9318240 h 9317520"/>
            </a:gdLst>
            <a:ahLst/>
            <a:cxnLst/>
            <a:rect l="textAreaLeft" t="textAreaTop" r="textAreaRight" b="textAreaBottom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  <a:alphaModFix amt="7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Freeform 24"/>
          <p:cNvSpPr/>
          <p:nvPr/>
        </p:nvSpPr>
        <p:spPr>
          <a:xfrm flipH="1" flipV="1" rot="10800000">
            <a:off x="16306920" y="795600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Freeform 25"/>
          <p:cNvSpPr/>
          <p:nvPr/>
        </p:nvSpPr>
        <p:spPr>
          <a:xfrm flipH="1" flipV="1">
            <a:off x="10800" y="-112680"/>
            <a:ext cx="1980360" cy="2330280"/>
          </a:xfrm>
          <a:custGeom>
            <a:avLst/>
            <a:gdLst>
              <a:gd name="textAreaLeft" fmla="*/ 360 w 1980360"/>
              <a:gd name="textAreaRight" fmla="*/ 1981440 w 1980360"/>
              <a:gd name="textAreaTop" fmla="*/ 360 h 2330280"/>
              <a:gd name="textAreaBottom" fmla="*/ 2331360 h 2330280"/>
            </a:gdLst>
            <a:ahLst/>
            <a:cxnLst/>
            <a:rect l="textAreaLeft" t="textAreaTop" r="textAreaRight" b="textAreaBottom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Freeform 26"/>
          <p:cNvSpPr/>
          <p:nvPr/>
        </p:nvSpPr>
        <p:spPr>
          <a:xfrm>
            <a:off x="16835760" y="146880"/>
            <a:ext cx="1203840" cy="1415520"/>
          </a:xfrm>
          <a:custGeom>
            <a:avLst/>
            <a:gdLst>
              <a:gd name="textAreaLeft" fmla="*/ 0 w 1203840"/>
              <a:gd name="textAreaRight" fmla="*/ 1204560 w 1203840"/>
              <a:gd name="textAreaTop" fmla="*/ 0 h 1415520"/>
              <a:gd name="textAreaBottom" fmla="*/ 1416240 h 1415520"/>
            </a:gdLst>
            <a:ahLst/>
            <a:cxnLst/>
            <a:rect l="textAreaLeft" t="textAreaTop" r="textAreaRight" b="textAreaBottom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7"/>
          <p:cNvSpPr/>
          <p:nvPr/>
        </p:nvSpPr>
        <p:spPr>
          <a:xfrm>
            <a:off x="5218560" y="3601800"/>
            <a:ext cx="173844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8"/>
          <p:cNvSpPr/>
          <p:nvPr/>
        </p:nvSpPr>
        <p:spPr>
          <a:xfrm>
            <a:off x="873000" y="2611440"/>
            <a:ext cx="17166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384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Application>LibreOffice/26.2.5.2$Windows_X86_64 LibreOffice_project/cd7284b4cbbfeb507e630c1aac019f4157393acb</Application>
  <AppVersion>15.0000</AppVersion>
  <Words>378</Words>
  <Paragraphs>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BHARANI V</dc:creator>
  <dc:description/>
  <dc:identifier>DAHTdevX50Q</dc:identifier>
  <dc:language>en-IN</dc:language>
  <cp:lastModifiedBy/>
  <dcterms:modified xsi:type="dcterms:W3CDTF">2026-08-29T10:16:56Z</dcterms:modified>
  <cp:revision>5</cp:revision>
  <dc:subject/>
  <dc:title>TEAM NAME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8</vt:i4>
  </property>
</Properties>
</file>